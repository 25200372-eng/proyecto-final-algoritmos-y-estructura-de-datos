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CD15F-7489-0141-900B-91257267453C}" type="datetimeFigureOut">
              <a:rPr lang="es-US" smtClean="0"/>
              <a:t>6/26/2026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A01FC-2EC7-034A-881D-DB5B74232CF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721078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5.pn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1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DE DATOS ESPACIALES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R-Tree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estructura de índice dinámico para búsqueda espacial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Guttman (1984) · SIGMOD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 de Datos — ESAN 2026-1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los BST no son suficientes?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árboles binarios de búsqueda funcionan en 1 dimensión. El mundo real es multidimensional.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Geográficos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mapa de ciudades tiene coordenadas (x, y). ¿Cómo indexar ambas dimensiones a la vez?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7373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8288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Espaciales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26974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restaurantes hay dentro de este rectángulo? Un BST no puede responder esto eficientemente.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7373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8288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Real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26480" y="26974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tiene billones de objetos. Se necesita O(log n) incluso para búsquedas 2D.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 R-Tree extiende el BST al mundo multidimensional usando rectángulos envolventes (MBR).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R-Tree?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Clave: MBR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Bounding Rectangle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rectángulo más pequeño que encierra a todos los objetos de un nodo.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por: (MinX, MinY, MaxX, MaxY)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 del árbol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balanceado (todas las hojas en el mismo nivel)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tiene entre m y M entradas (m ≤ ⌈M/2⌉)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raíz tiene al menos 2 hijos (si no es hoja)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hojas guardan los objetos reales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nodos internos guardan MBRs de sus hijos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657600" cy="3474720"/>
          </a:xfrm>
          <a:prstGeom prst="rect">
            <a:avLst/>
          </a:prstGeom>
          <a:solidFill>
            <a:srgbClr val="065A82">
              <a:alpha val="15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Raíz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1463040"/>
            <a:ext cx="1554480" cy="1645920"/>
          </a:xfrm>
          <a:prstGeom prst="rect">
            <a:avLst/>
          </a:prstGeom>
          <a:solidFill>
            <a:srgbClr val="1C7293">
              <a:alpha val="2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hijo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0" y="2011680"/>
            <a:ext cx="137160" cy="137160"/>
          </a:xfrm>
          <a:prstGeom prst="ellipse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560320"/>
            <a:ext cx="137160" cy="137160"/>
          </a:xfrm>
          <a:prstGeom prst="ellipse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743200"/>
            <a:ext cx="137160" cy="137160"/>
          </a:xfrm>
          <a:prstGeom prst="ellipse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645920"/>
            <a:ext cx="1463040" cy="1828800"/>
          </a:xfrm>
          <a:prstGeom prst="rect">
            <a:avLst/>
          </a:prstGeom>
          <a:solidFill>
            <a:srgbClr val="E85D04">
              <a:alpha val="20000"/>
            </a:srgbClr>
          </a:solidFill>
          <a:ln w="2540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hijo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223760" y="2103120"/>
            <a:ext cx="137160" cy="137160"/>
          </a:xfrm>
          <a:prstGeom prst="ellipse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2468880"/>
            <a:ext cx="137160" cy="137160"/>
          </a:xfrm>
          <a:prstGeom prst="ellipse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3108960"/>
            <a:ext cx="137160" cy="137160"/>
          </a:xfrm>
          <a:prstGeom prst="ellipse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2834640"/>
            <a:ext cx="137160" cy="137160"/>
          </a:xfrm>
          <a:prstGeom prst="ellipse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Objeto espacial (punto)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por Rango (Range Search)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en la raíz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rectángulo de búsqueda W contra el MBR de cada entrada del nodo.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Descartar nodos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MBR del hijo NO intersecta con W → ignorar toda esa rama.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hijo cuyo MBR SÍ intersecta con W → descender recursivamente.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Retornar hojas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nodos hoja, retornar todos los objetos que intersectan con 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1097280"/>
            <a:ext cx="3474720" cy="3474720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1280160"/>
            <a:ext cx="1463040" cy="1463040"/>
          </a:xfrm>
          <a:prstGeom prst="rect">
            <a:avLst/>
          </a:prstGeom>
          <a:solidFill>
            <a:srgbClr val="1C7293">
              <a:alpha val="25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2286000"/>
            <a:ext cx="1645920" cy="1645920"/>
          </a:xfrm>
          <a:prstGeom prst="rect">
            <a:avLst/>
          </a:prstGeom>
          <a:solidFill>
            <a:srgbClr val="E85D04">
              <a:alpha val="25000"/>
            </a:srgbClr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828800"/>
            <a:ext cx="1828800" cy="1828800"/>
          </a:xfrm>
          <a:prstGeom prst="rect">
            <a:avLst/>
          </a:prstGeom>
          <a:solidFill>
            <a:srgbClr val="02C39A">
              <a:alpha val="20000"/>
            </a:srgbClr>
          </a:solidFill>
          <a:ln w="3175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(búsqueda)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1554480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10312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83464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4688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31089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Encontrado   ● No encontrado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2686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O(√n) promedio en 2D · O(log n) en ideal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Inserción (Insert)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C7293">
              <a:alpha val="1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ChooseLeaf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Descender por el árbol eligiendo en cada nivel el hijo cuyo MBR necesita el menor crecimiento para incluir el nuevo objeto.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9202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574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065A82">
              <a:alpha val="1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Insertar en hoja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nodo hoja tiene espacio (&lt; M entradas), insertar directamente y actualizar el MBR del padre.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288036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175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E85D04">
              <a:alpha val="10000"/>
            </a:srgbClr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SplitNode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558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nodo está lleno (M entradas), dividirlo en dos nodos usando el algoritmo Lineal o Cuadrático. Propagar hacia arriba.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38404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776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021B2E">
              <a:alpha val="10000"/>
            </a:srgbClr>
          </a:solidFill>
          <a:ln w="19050">
            <a:solidFill>
              <a:srgbClr val="021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AdjustTree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los MBRs de todos los ancestros del camino de inserción.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División de nodo (SplitNode)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1737360"/>
            <a:ext cx="3474720" cy="502920"/>
          </a:xfrm>
          <a:prstGeom prst="rect">
            <a:avLst/>
          </a:prstGeom>
          <a:solidFill>
            <a:srgbClr val="E85D04">
              <a:alpha val="20000"/>
            </a:srgbClr>
          </a:solidFill>
          <a:ln w="25400">
            <a:solidFill>
              <a:srgbClr val="E85D0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1801368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18013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1801368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8013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93408" y="1801368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18013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51776" y="1801368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51776" y="18013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10144" y="1801368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144" y="18013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E5*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40880" y="233172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0" y="2944368"/>
            <a:ext cx="1645920" cy="502920"/>
          </a:xfrm>
          <a:prstGeom prst="rect">
            <a:avLst/>
          </a:prstGeom>
          <a:solidFill>
            <a:srgbClr val="1C7293">
              <a:alpha val="2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67528" y="3008376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67528" y="3008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88736" y="3008376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8736" y="3008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9944" y="3008376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3008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32320" y="2944368"/>
            <a:ext cx="1554480" cy="502920"/>
          </a:xfrm>
          <a:prstGeom prst="rect">
            <a:avLst/>
          </a:prstGeom>
          <a:solidFill>
            <a:srgbClr val="E85D04">
              <a:alpha val="20000"/>
            </a:srgbClr>
          </a:solidFill>
          <a:ln w="25400">
            <a:solidFill>
              <a:srgbClr val="E85D0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96328" y="3008376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96328" y="30083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27848" y="3008376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7848" y="30083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E5*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0352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Nuevo elemento insertado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 inserción: O(M · log_M n) en el peor caso · O(log n) amortizado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(Delete)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57200" cy="4572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FindLeaf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90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el nodo hoja que contiene el objeto a eliminar. Si el MBR del nodo no intersecta, no puede contener el objeto.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0" cy="365760"/>
          </a:xfrm>
          <a:prstGeom prst="line">
            <a:avLst/>
          </a:prstGeom>
          <a:noFill/>
          <a:ln w="19050">
            <a:solidFill>
              <a:srgbClr val="E2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148840"/>
            <a:ext cx="457200" cy="4572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entrada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el objeto del nodo hoja. Si el nodo queda con menos de m entradas, se marca para condensar.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0" cy="365760"/>
          </a:xfrm>
          <a:prstGeom prst="line">
            <a:avLst/>
          </a:prstGeom>
          <a:noFill/>
          <a:ln w="19050">
            <a:solidFill>
              <a:srgbClr val="E2EA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63240"/>
            <a:ext cx="457200" cy="4572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CondenseTree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192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por el árbol. Si un nodo tiene &lt; m entradas: eliminarlo y reinsertar sus entradas huérfanas.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0" cy="365760"/>
          </a:xfrm>
          <a:prstGeom prst="line">
            <a:avLst/>
          </a:prstGeom>
          <a:noFill/>
          <a:ln w="19050">
            <a:solidFill>
              <a:srgbClr val="E2EA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77640"/>
            <a:ext cx="457200" cy="4572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Reajustar raíz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336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raíz queda con un solo hijo, ese hijo se convierte en la nueva raíz (el árbol disminuye de altura).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 eliminación: O(M · log_M n) · La reinserción garantiza la densidad del árbol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COMPLEJIDAD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Big-O · R-Tree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 caso: </a:t>
            </a: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Peor caso: </a:t>
            </a: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superposición de MBRs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 caso: </a:t>
            </a: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Peor caso: </a:t>
            </a: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O(M·log 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496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propagación de splits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 caso: </a:t>
            </a: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Peor caso: </a:t>
            </a: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O(M·log 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87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reinserción de huérfanos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 caso: </a:t>
            </a: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Peor caso: </a:t>
            </a: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187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Garantizado para n objetos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091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el R-Tree es muy eficiente cuando los MBRs tienen poca superposición (baja dimensión).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R-Tree vs. Alternativas Espaciales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103120" cy="411480"/>
          </a:xfrm>
          <a:prstGeom prst="rect">
            <a:avLst/>
          </a:prstGeom>
          <a:solidFill>
            <a:srgbClr val="021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21031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R-Tree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21031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097280"/>
            <a:ext cx="20116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Quadtree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21031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087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0" y="1508760"/>
            <a:ext cx="210312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5087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Siempre balanceado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508760"/>
            <a:ext cx="210312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5087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Solo si se reconstruye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1508760"/>
            <a:ext cx="201168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50876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Depende de datos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002536"/>
            <a:ext cx="21031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00253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no-puntuales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0" y="2002536"/>
            <a:ext cx="2103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00253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Rectángulos, polígonos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002536"/>
            <a:ext cx="2103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00253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Solo puntos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2002536"/>
            <a:ext cx="2011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00253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Aproximado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496312"/>
            <a:ext cx="21031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4963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rango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0" y="2496312"/>
            <a:ext cx="210312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4963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Muy eficiente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496312"/>
            <a:ext cx="210312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4963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Eficiente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49440" y="2496312"/>
            <a:ext cx="201168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249631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Eficiente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2990088"/>
            <a:ext cx="21031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99008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 dinámica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0" y="2990088"/>
            <a:ext cx="2103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299008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Soportada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990088"/>
            <a:ext cx="2103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99008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Costosa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9440" y="2990088"/>
            <a:ext cx="2011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299008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Soportada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3483864"/>
            <a:ext cx="21031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4838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dimensión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0" y="3483864"/>
            <a:ext cx="210312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6040" y="34838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Degrada (dim&gt;10)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3483864"/>
            <a:ext cx="210312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4838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Degrada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49440" y="3483864"/>
            <a:ext cx="2011680" cy="493776"/>
          </a:xfrm>
          <a:prstGeom prst="rect">
            <a:avLst/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95160" y="348386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Impractical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977640"/>
            <a:ext cx="21031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97764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en BD reales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0" y="3977640"/>
            <a:ext cx="2103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397764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PostgreSQL, SQLite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54880" y="3977640"/>
            <a:ext cx="2103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97764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Scikit-learn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49440" y="3977640"/>
            <a:ext cx="2011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95160" y="397764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GIS limitado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R-Tree es la mejor opción cuando los objetos tienen extensión espacial (no solo puntos) y se necesita índice dinámico.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Reales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527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PostGIS / PostgreSQL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" y="17099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R-Tree es el índice espacial por defecto (GIST). Usado para consultas geográficas sobre millones de registros.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527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 / OpenStreetMap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355848" y="17099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 carreteras, edificios y puntos de interés para renderizado eficiente según la ventana visible.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5272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GPS y Rastreo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236208" y="17099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el vehículo más cercano a una ubicación, calcular rutas optimizadas en tiempo real.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6576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3580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Multimedia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75488" y="349300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 imágenes por sus bounding boxes para búsqueda visual por región de interés.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4612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03580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Videojuegos / Motores 3D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355848" y="349300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colisiones eficiente entre objetos 3D usando MBRs para descartar pares no colisionantes.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12648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EF6FB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03580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 (Sistemas de Información Geográfica)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236208" y="349300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QGIS, ArcGIS y similares usan R-Trees para superponer capas de datos espaciales.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Clave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R-Tree extiende el BST a datos multidimensionales mediante MBRs.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balanceado: todas las hojas al mismo nivel garantiza O(log 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06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objetos con extensión (rectángulos, polígonos), no solo puntos.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2783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0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SplitNode es el corazón del algoritmo: su eficiencia determina la calidad del árbol.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 los índices espaciales en bases de datos reales (PostGIS, SQLite R*Tree).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434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Referencia principal: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5994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Guttman, A. (1984). R-Trees: A Dynamic Index Structure for Spatial Searching. SIGMOD Record, 14(2), 47–57.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R-Tree — Estructura de Datos Espacial</dc:title>
  <dc:subject>PptxGenJS Presentation</dc:subject>
  <dc:creator>PptxGenJS</dc:creator>
  <cp:lastModifiedBy>Dayana Jaimes</cp:lastModifiedBy>
  <cp:revision>2</cp:revision>
  <dcterms:created xsi:type="dcterms:W3CDTF">2026-06-26T23:49:06Z</dcterms:created>
  <dcterms:modified xsi:type="dcterms:W3CDTF">2026-06-26T23:59:52Z</dcterms:modified>
</cp:coreProperties>
</file>